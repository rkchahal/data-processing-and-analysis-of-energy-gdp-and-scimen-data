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sldIdLst>
    <p:sldId id="256" r:id="rId2"/>
    <p:sldId id="257" r:id="rId3"/>
    <p:sldId id="258" r:id="rId4"/>
    <p:sldId id="264" r:id="rId5"/>
    <p:sldId id="265" r:id="rId6"/>
    <p:sldId id="266" r:id="rId7"/>
    <p:sldId id="263" r:id="rId8"/>
    <p:sldId id="259" r:id="rId9"/>
    <p:sldId id="260" r:id="rId10"/>
    <p:sldId id="280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62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67" d="100"/>
          <a:sy n="67" d="100"/>
        </p:scale>
        <p:origin x="14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63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567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789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433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498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694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737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76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025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66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4795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123462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4314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3873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6899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9221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2442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2768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 Processing and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Energy, GDP, and </a:t>
            </a:r>
            <a:r>
              <a:rPr dirty="0" err="1"/>
              <a:t>ScimEn</a:t>
            </a:r>
            <a:r>
              <a:rPr dirty="0"/>
              <a:t> Data</a:t>
            </a:r>
            <a:endParaRPr lang="en-IN" dirty="0"/>
          </a:p>
          <a:p>
            <a:endParaRPr lang="en-IN" dirty="0"/>
          </a:p>
          <a:p>
            <a:r>
              <a:rPr lang="en-IN" dirty="0"/>
              <a:t>Author: Rashpinder Kaur Chahal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Overview of the Task</a:t>
            </a:r>
            <a:r>
              <a:rPr lang="en-IN" dirty="0"/>
              <a:t>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332" y="2327689"/>
            <a:ext cx="7765322" cy="39207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The task involves processing three distinct datasets:</a:t>
            </a:r>
          </a:p>
          <a:p>
            <a:r>
              <a:rPr lang="en-US" sz="1800" dirty="0"/>
              <a:t>Energy Indicators (Energy data from the United Nations)</a:t>
            </a:r>
          </a:p>
          <a:p>
            <a:r>
              <a:rPr lang="en-US" sz="1800" dirty="0"/>
              <a:t>World Bank GDP Data (GDP of countries from 1960 to 2015)</a:t>
            </a:r>
          </a:p>
          <a:p>
            <a:r>
              <a:rPr lang="en-US" sz="1800" dirty="0" err="1"/>
              <a:t>Sciamgo</a:t>
            </a:r>
            <a:r>
              <a:rPr lang="en-US" sz="1800" dirty="0"/>
              <a:t> Journal Rankings (Ranking of countries in Energy Engineering and Power Technology)</a:t>
            </a:r>
          </a:p>
          <a:p>
            <a:pPr marL="0" indent="0">
              <a:buNone/>
            </a:pPr>
            <a:r>
              <a:rPr lang="en-US" sz="2400" dirty="0"/>
              <a:t>Then, clean, merge, and analyze these datasets to derive insights regarding energy supply, GDP, and scientific contributions</a:t>
            </a:r>
            <a:r>
              <a:rPr lang="en-US" sz="1800" dirty="0"/>
              <a:t>.</a:t>
            </a:r>
          </a:p>
          <a:p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Task Breakdown: Reading and Cleaning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Load Energy Data</a:t>
            </a:r>
            <a:r>
              <a:rPr lang="en-IN" dirty="0"/>
              <a:t>.</a:t>
            </a:r>
          </a:p>
          <a:p>
            <a:r>
              <a:rPr dirty="0"/>
              <a:t>Drop unnecessary columns.</a:t>
            </a:r>
          </a:p>
          <a:p>
            <a:r>
              <a:rPr dirty="0"/>
              <a:t>Rename columns.</a:t>
            </a:r>
            <a:endParaRPr lang="en-IN" dirty="0"/>
          </a:p>
          <a:p>
            <a:endParaRPr dirty="0"/>
          </a:p>
          <a:p>
            <a:endParaRPr lang="en-IN" dirty="0"/>
          </a:p>
          <a:p>
            <a:r>
              <a:rPr dirty="0"/>
              <a:t>Convert Energy Supply to gigajoules.</a:t>
            </a:r>
          </a:p>
          <a:p>
            <a:endParaRPr dirty="0"/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77BD3C-1D8F-F150-005E-7720D59C9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733" y="3579300"/>
            <a:ext cx="7560547" cy="7286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DEFD06-3108-D611-E51C-3700D7D42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910" y="5161417"/>
            <a:ext cx="6534591" cy="4403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67C4DD-EC5D-BC82-0DA3-015EE8D0A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97" y="1319321"/>
            <a:ext cx="8752606" cy="348496"/>
          </a:xfrm>
          <a:prstGeom prst="rect">
            <a:avLst/>
          </a:prstGeom>
        </p:spPr>
      </p:pic>
      <p:sp>
        <p:nvSpPr>
          <p:cNvPr id="10" name="Rectangle 5">
            <a:extLst>
              <a:ext uri="{FF2B5EF4-FFF2-40B4-BE49-F238E27FC236}">
                <a16:creationId xmlns:a16="http://schemas.microsoft.com/office/drawing/2014/main" id="{F3AE7C59-1693-1A33-DABF-95F1E5BB01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697" y="507667"/>
            <a:ext cx="8415338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Handle missing data.</a:t>
            </a:r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 defTabSz="9144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pd.to_numeric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 function from the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pandas (pd)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library that attempts to convert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to a numeric type (like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or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float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 It can be applied to a pandas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Series,a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single column in a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DataFrame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errors parameter controls what happens if the conversion encounters an issue. In this case, setting errors='coerce' means that if a value in the 'Energy Supply' column cannot be converted to a numeric type (e.g., it contains non-numeric characters), it will be replaced with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(Not a Number), which is used to represent missing or undefined values in pandas.</a:t>
            </a:r>
          </a:p>
        </p:txBody>
      </p:sp>
    </p:spTree>
    <p:extLst>
      <p:ext uri="{BB962C8B-B14F-4D97-AF65-F5344CB8AC3E}">
        <p14:creationId xmlns:p14="http://schemas.microsoft.com/office/powerpoint/2010/main" val="3739098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0098E1-318C-EDF4-31AC-E443823421C5}"/>
              </a:ext>
            </a:extLst>
          </p:cNvPr>
          <p:cNvSpPr txBox="1"/>
          <p:nvPr/>
        </p:nvSpPr>
        <p:spPr>
          <a:xfrm>
            <a:off x="0" y="242798"/>
            <a:ext cx="8842677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/>
              <a:t>Cleaning the names of countries according to data merging requirement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Removing the trailing numbers at the end of the countries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Renaming certain countries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Removing the parenthesis in name of countries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6F537F-6A8D-CF35-3EA8-D61773AB1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0152"/>
            <a:ext cx="9144000" cy="5297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590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5F480A-335D-2504-DC6C-9C9954E2F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917" y="1042988"/>
            <a:ext cx="8596165" cy="4490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073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A5263-7AD7-7599-901A-59AF79C7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Breakdown: Reading and Cleaning Data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FD655-CEEA-112A-32E2-82AD55D71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346" y="2096063"/>
            <a:ext cx="7765322" cy="4390462"/>
          </a:xfrm>
        </p:spPr>
        <p:txBody>
          <a:bodyPr/>
          <a:lstStyle/>
          <a:p>
            <a:r>
              <a:rPr lang="en-US" dirty="0"/>
              <a:t>Load GDP Data:</a:t>
            </a:r>
          </a:p>
          <a:p>
            <a:endParaRPr lang="en-US" dirty="0"/>
          </a:p>
          <a:p>
            <a:r>
              <a:rPr lang="en-US" dirty="0"/>
              <a:t>Replacing some country names.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Load </a:t>
            </a:r>
            <a:r>
              <a:rPr lang="en-US" dirty="0" err="1"/>
              <a:t>Sciamgo</a:t>
            </a:r>
            <a:r>
              <a:rPr lang="en-US" dirty="0"/>
              <a:t> Journal Rankings: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6DD190-6B25-E7A0-E5B3-0321E31F1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383" y="2585993"/>
            <a:ext cx="4966239" cy="4429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AD14C3-BCFF-8989-7E98-DFCF187A91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96732"/>
            <a:ext cx="9144000" cy="5895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6A04249-476D-A476-7E24-B8D2260987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383" y="5091087"/>
            <a:ext cx="5993218" cy="461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541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Breakdown: Merging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3933" y="1226943"/>
            <a:ext cx="7765322" cy="3695136"/>
          </a:xfrm>
        </p:spPr>
        <p:txBody>
          <a:bodyPr>
            <a:normAutofit/>
          </a:bodyPr>
          <a:lstStyle/>
          <a:p>
            <a:endParaRPr dirty="0"/>
          </a:p>
          <a:p>
            <a:r>
              <a:rPr dirty="0"/>
              <a:t>Merge Energy, GDP, and </a:t>
            </a:r>
            <a:r>
              <a:rPr dirty="0" err="1"/>
              <a:t>Sciamgo</a:t>
            </a:r>
            <a:r>
              <a:rPr dirty="0"/>
              <a:t> data:</a:t>
            </a:r>
            <a:r>
              <a:rPr lang="en-IN" dirty="0"/>
              <a:t> (using Country)</a:t>
            </a:r>
          </a:p>
          <a:p>
            <a:endParaRPr dirty="0"/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84D50B-3727-7D33-E733-4C8FEC6D4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057" y="2252363"/>
            <a:ext cx="8573886" cy="460563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Tasks and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935922"/>
            <a:ext cx="7765322" cy="4219575"/>
          </a:xfrm>
        </p:spPr>
        <p:txBody>
          <a:bodyPr>
            <a:normAutofit/>
          </a:bodyPr>
          <a:lstStyle/>
          <a:p>
            <a:r>
              <a:rPr dirty="0"/>
              <a:t>Q2) Calculate Average GDP (2006-2015).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dirty="0"/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FB2A87-C0A8-CA96-19EB-74EF2BBE9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38413"/>
            <a:ext cx="9144000" cy="325278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52944547-FDBC-5C5C-1ABB-B052D85C82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132" y="1720840"/>
            <a:ext cx="763966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Calculating and sorting countries by their average GDP from 2006-2015 provides valuable insights into global economic performance, trends, and stability. This approach allows for: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 identification of economic leaders and emerging powers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better understanding of global inequality and economic health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 sorting countries based on average GDP, you gain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holistic view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how countries have performed economically over a sustained period, enabling better decision-making for businesses, policymakers, and analysts.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903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E84CF-6514-2623-97E7-5280968C1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Tasks and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5CCFD-74F0-247D-6C97-1796D36EF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332" y="1824602"/>
            <a:ext cx="7765322" cy="369513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GDP Change for 6th Largest Average GDP: Find the GDP change for the country with the 6th largest average GDP.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F08674-3716-28F3-A99F-DB78AB358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5069"/>
            <a:ext cx="9116697" cy="4059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824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D5F93-5465-90EC-DAC9-372D33313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Tasks and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32843-8C6C-B9D1-042F-EAF021BC5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332" y="1781739"/>
            <a:ext cx="7765322" cy="3695136"/>
          </a:xfrm>
        </p:spPr>
        <p:txBody>
          <a:bodyPr/>
          <a:lstStyle/>
          <a:p>
            <a:r>
              <a:rPr lang="en-US" dirty="0"/>
              <a:t>Mean Energy Supply per Capita: Calculate the mean of the Energy Supply per Capita.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3D16A7-702A-D062-4BC9-5F6B722AD7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63" y="3010095"/>
            <a:ext cx="8351087" cy="2247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884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1CBCC-57F9-BD11-F4EF-864BCDF09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Tasks and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7C336-9D03-2A5D-EA2C-B8B0DC1AD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346" y="1710301"/>
            <a:ext cx="7765322" cy="3695136"/>
          </a:xfrm>
        </p:spPr>
        <p:txBody>
          <a:bodyPr/>
          <a:lstStyle/>
          <a:p>
            <a:r>
              <a:rPr lang="en-US" dirty="0"/>
              <a:t>Country with Maximum % Renewable: Find the country with the maximum renewable percentage and return the country name and percentage.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2400B9-7A9E-4EDF-685E-993789B48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21" y="3350946"/>
            <a:ext cx="8846772" cy="3021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328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9D93C-9785-5E1F-263E-9052F4B90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Tasks and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7786D-E706-F841-E061-3B0F9DFDE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346" y="1796026"/>
            <a:ext cx="7765322" cy="3695136"/>
          </a:xfrm>
        </p:spPr>
        <p:txBody>
          <a:bodyPr/>
          <a:lstStyle/>
          <a:p>
            <a:r>
              <a:rPr lang="en-US" dirty="0"/>
              <a:t>Maximum Self-Citation Ratio: Create a ratio of Self-Citations to Total Citations and find the country with the maximum ratio.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71861A-5286-9B72-2A8C-906ED1005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4" y="3152340"/>
            <a:ext cx="8892071" cy="3096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5283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E79D2-E7E7-A011-3F48-AF91E4D14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Tasks and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53100-C3E5-E2F9-37E0-D82A7FB48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3332" y="1738877"/>
            <a:ext cx="7765322" cy="3695136"/>
          </a:xfrm>
        </p:spPr>
        <p:txBody>
          <a:bodyPr/>
          <a:lstStyle/>
          <a:p>
            <a:r>
              <a:rPr lang="en-US" dirty="0"/>
              <a:t>Third Most Populous Country: Estimate population and find the third most populous country.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5F91F8-789B-E3A3-CF29-F8874F8D3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30486"/>
            <a:ext cx="9144000" cy="3527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5186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65DCE-EE00-D91B-F62C-90BE4D691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Tasks and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7AC06-05AF-3A4A-C48F-C803B55A3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Create a column for citable documents per person.</a:t>
            </a:r>
          </a:p>
          <a:p>
            <a:r>
              <a:rPr lang="en-IN" dirty="0"/>
              <a:t>Calculate the correlation between citable documents per capita and energy supply per capita.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66584E-0FFA-F650-4097-A8B6439EDC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00437"/>
            <a:ext cx="9144000" cy="274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7266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402EF-3B38-1471-C3B9-81E28FA64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Tasks and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721A9-16EE-3169-1A5F-87DF82768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Plot to visualize the relationship between Energy Supply per Capita vs. Citable docs per Capita.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D96346-5DDD-F9A4-E736-6C07CAB2A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3" y="3070812"/>
            <a:ext cx="9062468" cy="343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0792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C0351C-DB3D-3B44-7661-7D9CA6054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63" y="1623904"/>
            <a:ext cx="5872749" cy="48103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FB4477-664C-541D-770E-1E368A2A0E96}"/>
              </a:ext>
            </a:extLst>
          </p:cNvPr>
          <p:cNvSpPr txBox="1"/>
          <p:nvPr/>
        </p:nvSpPr>
        <p:spPr>
          <a:xfrm>
            <a:off x="6100763" y="405228"/>
            <a:ext cx="2934021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This graph shows that there is a positive linear correlation between Energy Supply Per Capita and Citable documents per capita as we can see, when one increase other variable increases too.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Around 0.0002 citable documents per capita there is more values in and about that value.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Also, we can see that all the scattered points are dispersed and not crowded so the correlation is not very high.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6FFA79-5C15-4506-2EA3-F46857E870A2}"/>
              </a:ext>
            </a:extLst>
          </p:cNvPr>
          <p:cNvSpPr txBox="1"/>
          <p:nvPr/>
        </p:nvSpPr>
        <p:spPr>
          <a:xfrm>
            <a:off x="0" y="367543"/>
            <a:ext cx="624286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Correlation between Citable documents per capita </a:t>
            </a:r>
          </a:p>
          <a:p>
            <a:r>
              <a:rPr lang="en-US" sz="2000" dirty="0"/>
              <a:t>&amp; Energy Supply per Capita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3418124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4971C-BADC-4CB0-CA60-E12171989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Tasks and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11DA6-A975-6025-D4C5-A9E743D93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% Renewable vs Median Classification: Classify countries based on whether their % Renewable is above or below the median.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80A7FC-8A5A-7CA9-331D-1CC8D14AF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30" y="3429000"/>
            <a:ext cx="8597553" cy="2522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344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1E1AE-FDBF-18A1-11E7-F5306EA7E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Tasks and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F9A0AF-F439-E7C8-607B-D20574F27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Continent Grouping: Group countries by continent and calculate statistics for population estimates.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2639E9-81DD-FE9C-D496-26B0DCB85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07890"/>
            <a:ext cx="9144000" cy="3695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3233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61D13-9991-9E04-B858-F91A7CC65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Tasks and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89D10-48C1-690A-E44D-9DDC08823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% Renewable Binned by Continent: Create bins for % Renewable and group countries by continent and renewable bins.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703268-4368-7446-CEE7-4D8B7C42E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29" y="3428999"/>
            <a:ext cx="8714741" cy="2819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9158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A6F3A-FCE1-8072-F1B0-506EC3C41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Tasks and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4C7E1-8F7E-BB51-7768-4145DC57A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Population Estimate as String: Convert population estimates to string with thousands separator.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1928E9-AE53-B409-00A0-773760AB1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688" y="3174154"/>
            <a:ext cx="8702624" cy="2269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3804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935922"/>
            <a:ext cx="7765322" cy="3990975"/>
          </a:xfrm>
        </p:spPr>
        <p:txBody>
          <a:bodyPr/>
          <a:lstStyle/>
          <a:p>
            <a:r>
              <a:rPr lang="en-US" dirty="0"/>
              <a:t>This presentation has walked through the steps of loading, cleaning, merging, and analyzing energy, GDP, and </a:t>
            </a:r>
            <a:r>
              <a:rPr lang="en-US" dirty="0" err="1"/>
              <a:t>ScimEn</a:t>
            </a:r>
            <a:r>
              <a:rPr lang="en-US" dirty="0"/>
              <a:t> datasets. The tasks range from simple column operations to advanced analyses like continent grouping and renewable energy binning.</a:t>
            </a:r>
          </a:p>
          <a:p>
            <a:r>
              <a:rPr lang="en-US" dirty="0"/>
              <a:t>Comprehensive steps for data processing and analysis.</a:t>
            </a:r>
          </a:p>
          <a:p>
            <a:r>
              <a:rPr lang="en-US" dirty="0"/>
              <a:t>Insights from energy, GDP, and scientific data.</a:t>
            </a:r>
          </a:p>
          <a:p>
            <a:r>
              <a:rPr lang="en-US" dirty="0"/>
              <a:t>Foundation for further exploration and decision-making.</a:t>
            </a:r>
          </a:p>
          <a:p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203</TotalTime>
  <Words>805</Words>
  <Application>Microsoft Office PowerPoint</Application>
  <PresentationFormat>On-screen Show (4:3)</PresentationFormat>
  <Paragraphs>87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 Unicode MS</vt:lpstr>
      <vt:lpstr>Arial</vt:lpstr>
      <vt:lpstr>Bookman Old Style</vt:lpstr>
      <vt:lpstr>Rockwell</vt:lpstr>
      <vt:lpstr>Damask</vt:lpstr>
      <vt:lpstr>Data Processing and Analysis</vt:lpstr>
      <vt:lpstr>Overview of the TaskS</vt:lpstr>
      <vt:lpstr>Task Breakdown: Reading and Cleaning Data</vt:lpstr>
      <vt:lpstr>PowerPoint Presentation</vt:lpstr>
      <vt:lpstr>PowerPoint Presentation</vt:lpstr>
      <vt:lpstr>PowerPoint Presentation</vt:lpstr>
      <vt:lpstr>Task Breakdown: Reading and Cleaning Data</vt:lpstr>
      <vt:lpstr>Task Breakdown: Merging Data</vt:lpstr>
      <vt:lpstr>Key Tasks and Functions</vt:lpstr>
      <vt:lpstr>PowerPoint Presentation</vt:lpstr>
      <vt:lpstr>Key Tasks and Functions</vt:lpstr>
      <vt:lpstr>Key Tasks and Functions</vt:lpstr>
      <vt:lpstr>Key Tasks and Functions</vt:lpstr>
      <vt:lpstr>Key Tasks and Functions</vt:lpstr>
      <vt:lpstr>Key Tasks and Functions</vt:lpstr>
      <vt:lpstr>Key Tasks and Functions</vt:lpstr>
      <vt:lpstr>Key Tasks and Functions</vt:lpstr>
      <vt:lpstr>PowerPoint Presentation</vt:lpstr>
      <vt:lpstr>Key Tasks and Functions</vt:lpstr>
      <vt:lpstr>Key Tasks and Functions</vt:lpstr>
      <vt:lpstr>Key Tasks and Functions</vt:lpstr>
      <vt:lpstr>Key Tasks and Functions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Processing and Analysis</dc:title>
  <dc:subject/>
  <dc:creator>hp</dc:creator>
  <cp:keywords/>
  <dc:description>generated using python-pptx</dc:description>
  <cp:lastModifiedBy>Rashpinder Chahal</cp:lastModifiedBy>
  <cp:revision>6</cp:revision>
  <dcterms:created xsi:type="dcterms:W3CDTF">2013-01-27T09:14:16Z</dcterms:created>
  <dcterms:modified xsi:type="dcterms:W3CDTF">2025-01-22T12:52:07Z</dcterms:modified>
  <cp:category/>
</cp:coreProperties>
</file>